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457200" cy="457200"/>
          </a:xfrm>
          <a:prstGeom prst="rect">
            <a:avLst/>
          </a:prstGeom>
          <a:solidFill>
            <a:srgbClr val="46D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07090C"/>
                </a:solidFill>
                <a:latin typeface="Inter"/>
              </a:rPr>
              <a:t>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48840"/>
            <a:ext cx="11094415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200" b="1" i="0">
                <a:solidFill>
                  <a:srgbClr val="F5F7FA"/>
                </a:solidFill>
                <a:latin typeface="Inter"/>
              </a:rPr>
              <a:t>LLMai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86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AAB4C0"/>
                </a:solidFill>
                <a:latin typeface="Inter"/>
              </a:rPr>
              <a:t>A local-first AI coding agent with three layers of awareness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617720"/>
            <a:ext cx="1463040" cy="36576"/>
          </a:xfrm>
          <a:prstGeom prst="rect">
            <a:avLst/>
          </a:prstGeom>
          <a:solidFill>
            <a:srgbClr val="46D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3093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758293"/>
                </a:solidFill>
                <a:latin typeface="Consolas"/>
              </a:rPr>
              <a:t>Hackathon submission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71055" y="63093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758293"/>
                </a:solidFill>
                <a:latin typeface="Consolas"/>
              </a:rPr>
              <a:t>github.com/sechan9999/LLMai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46D39A"/>
                </a:solidFill>
                <a:latin typeface="Inter"/>
              </a:rPr>
              <a:t>Every AI coding agent has the same two blind spots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37360"/>
            <a:ext cx="5318607" cy="3840480"/>
          </a:xfrm>
          <a:prstGeom prst="rect">
            <a:avLst/>
          </a:prstGeom>
          <a:solidFill>
            <a:srgbClr val="10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5318607" cy="73152"/>
          </a:xfrm>
          <a:prstGeom prst="rect">
            <a:avLst/>
          </a:prstGeom>
          <a:solidFill>
            <a:srgbClr val="46D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58708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5F7FA"/>
                </a:solidFill>
                <a:latin typeface="Inter"/>
              </a:rPr>
              <a:t>Forgets yesterday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4587087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AAB4C0"/>
                </a:solidFill>
                <a:latin typeface="Inter"/>
              </a:rPr>
              <a:t>Every conversation starts from zero. Your past decisions, debug sessions, and the rationale behind your architecture vanish at /reset.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24447" y="1737360"/>
            <a:ext cx="5318607" cy="3840480"/>
          </a:xfrm>
          <a:prstGeom prst="rect">
            <a:avLst/>
          </a:prstGeom>
          <a:solidFill>
            <a:srgbClr val="10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24447" y="1737360"/>
            <a:ext cx="5318607" cy="73152"/>
          </a:xfrm>
          <a:prstGeom prst="rect">
            <a:avLst/>
          </a:prstGeom>
          <a:solidFill>
            <a:srgbClr val="6AA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90207" y="2103120"/>
            <a:ext cx="458708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5F7FA"/>
                </a:solidFill>
                <a:latin typeface="Inter"/>
              </a:rPr>
              <a:t>Ignores what your team already learned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90207" y="2926080"/>
            <a:ext cx="4587087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AAB4C0"/>
                </a:solidFill>
                <a:latin typeface="Inter"/>
              </a:rPr>
              <a:t>The model writes a fix while the issue your team filed six months ago — with the exact same fix — sits unread in GitLab.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758293"/>
                </a:solidFill>
                <a:latin typeface="Consolas"/>
              </a:rPr>
              <a:t>2 /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58293"/>
                </a:solidFill>
                <a:latin typeface="Consolas"/>
              </a:rPr>
              <a:t>github.com/sechan9999/LLMai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46D39A"/>
                </a:solidFill>
                <a:latin typeface="Inter"/>
              </a:rPr>
              <a:t>LLMai gives the agent three distinct kinds of awareness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37360"/>
            <a:ext cx="3393338" cy="3657600"/>
          </a:xfrm>
          <a:prstGeom prst="rect">
            <a:avLst/>
          </a:prstGeom>
          <a:solidFill>
            <a:srgbClr val="10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3393338" cy="73152"/>
          </a:xfrm>
          <a:prstGeom prst="rect">
            <a:avLst/>
          </a:prstGeom>
          <a:solidFill>
            <a:srgbClr val="46D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266181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58293"/>
                </a:solidFill>
                <a:latin typeface="Consolas"/>
              </a:rPr>
              <a:t>OPERATIONAL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39"/>
            <a:ext cx="266181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6AA9FF"/>
                </a:solidFill>
                <a:latin typeface="Inter"/>
              </a:rPr>
              <a:t>Dynatrace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91839"/>
            <a:ext cx="2661818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AAB4C0"/>
                </a:solidFill>
                <a:latin typeface="Inter"/>
              </a:rPr>
              <a:t>Every tool call traced. Latency, tokens, permission outcome, success / error.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99178" y="1737360"/>
            <a:ext cx="3393338" cy="3657600"/>
          </a:xfrm>
          <a:prstGeom prst="rect">
            <a:avLst/>
          </a:prstGeom>
          <a:solidFill>
            <a:srgbClr val="10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99178" y="1737360"/>
            <a:ext cx="3393338" cy="73152"/>
          </a:xfrm>
          <a:prstGeom prst="rect">
            <a:avLst/>
          </a:prstGeom>
          <a:solidFill>
            <a:srgbClr val="46D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64938" y="2057400"/>
            <a:ext cx="266181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58293"/>
                </a:solidFill>
                <a:latin typeface="Consolas"/>
              </a:rPr>
              <a:t>PERSONAL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64938" y="2377439"/>
            <a:ext cx="266181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6AA9FF"/>
                </a:solidFill>
                <a:latin typeface="Inter"/>
              </a:rPr>
              <a:t>MongoDB Atlas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64938" y="3291839"/>
            <a:ext cx="2661818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AAB4C0"/>
                </a:solidFill>
                <a:latin typeface="Inter"/>
              </a:rPr>
              <a:t>Remembers your past sessions per workspace. Boots warm with prior summaries auto-injected.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49716" y="1737360"/>
            <a:ext cx="3393338" cy="3657600"/>
          </a:xfrm>
          <a:prstGeom prst="rect">
            <a:avLst/>
          </a:prstGeom>
          <a:solidFill>
            <a:srgbClr val="10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49716" y="1737360"/>
            <a:ext cx="3393338" cy="73152"/>
          </a:xfrm>
          <a:prstGeom prst="rect">
            <a:avLst/>
          </a:prstGeom>
          <a:solidFill>
            <a:srgbClr val="46D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15476" y="2057400"/>
            <a:ext cx="266181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58293"/>
                </a:solidFill>
                <a:latin typeface="Consolas"/>
              </a:rPr>
              <a:t>ORGANIZATIONAL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15476" y="2377439"/>
            <a:ext cx="266181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6AA9FF"/>
                </a:solidFill>
                <a:latin typeface="Inter"/>
              </a:rPr>
              <a:t>Elastic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15476" y="3291839"/>
            <a:ext cx="2661818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AAB4C0"/>
                </a:solidFill>
                <a:latin typeface="Inter"/>
              </a:rPr>
              <a:t>Hybrid search over GitLab issues, CI logs, docs. Calls search_knowledge before writing code.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46D39A"/>
                </a:solidFill>
                <a:latin typeface="Consolas"/>
              </a:rPr>
              <a:t>All three are opt-in. Core agent runs 100% locally.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758293"/>
                </a:solidFill>
                <a:latin typeface="Consolas"/>
              </a:rPr>
              <a:t>3 / 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58293"/>
                </a:solidFill>
                <a:latin typeface="Consolas"/>
              </a:rPr>
              <a:t>github.com/sechan9999/LLMai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46D39A"/>
                </a:solidFill>
                <a:latin typeface="Inter"/>
              </a:rPr>
              <a:t>How the three layers wire into the agent loop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11094415" cy="4297680"/>
          </a:xfrm>
          <a:prstGeom prst="rect">
            <a:avLst/>
          </a:prstGeom>
          <a:solidFill>
            <a:srgbClr val="0A0D11"/>
          </a:solidFill>
          <a:ln w="9525">
            <a:solidFill>
              <a:srgbClr val="263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600200"/>
            <a:ext cx="10545775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5F7FA"/>
                </a:solidFill>
                <a:latin typeface="Consolas"/>
              </a:rPr>
              <a:t>                                       search_knowledge   ──►  Elastic  (issues + docs)
                                       │
    Browser / CLI ──► Agent Loop ──────┼─► recall_memory     ──►  MongoDB Atlas
                          │            │                          (sessions + summaries
                          │            └─► query_logs        ──►   + extracted knowledge)
                          │
                          ▼
                     OTel spans
                          │
                          ▼
                  Bindplane ──┬──► Dynatrace             (traces + metrics)
                              │
                              └──► Elastic agent-logs    (agent queries itself)
    LLM backend:   Ollama localhost:11434   (Gemini / Groq optional)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1">
                <a:solidFill>
                  <a:srgbClr val="AAB4C0"/>
                </a:solidFill>
                <a:latin typeface="Inter"/>
              </a:rPr>
              <a:t>Each layer is independent. Failure in one cannot cascade to another.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758293"/>
                </a:solidFill>
                <a:latin typeface="Consolas"/>
              </a:rPr>
              <a:t>4 /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58293"/>
                </a:solidFill>
                <a:latin typeface="Consolas"/>
              </a:rPr>
              <a:t>github.com/sechan9999/LLMai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46D39A"/>
                </a:solidFill>
                <a:latin typeface="Inter"/>
              </a:rPr>
              <a:t>Layer 1 — Operational awareness via OpenTelemetry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AA9FF"/>
                </a:solidFill>
                <a:latin typeface="Consolas"/>
              </a:rPr>
              <a:t>DYNATRACE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5318607" cy="4023360"/>
          </a:xfrm>
          <a:prstGeom prst="rect">
            <a:avLst/>
          </a:prstGeom>
          <a:solidFill>
            <a:srgbClr val="10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5318607" cy="54864"/>
          </a:xfrm>
          <a:prstGeom prst="rect">
            <a:avLst/>
          </a:prstGeom>
          <a:solidFill>
            <a:srgbClr val="46D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5870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5F7FA"/>
                </a:solidFill>
                <a:latin typeface="Inter"/>
              </a:rPr>
              <a:t>What's instrumented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45870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46D39A"/>
                </a:solidFill>
                <a:latin typeface="Consolas"/>
              </a:rPr>
              <a:t>agent.turn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45870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AAB4C0"/>
                </a:solidFill>
                <a:latin typeface="Inter"/>
              </a:rPr>
              <a:t>one per user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74720"/>
            <a:ext cx="45870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46D39A"/>
                </a:solidFill>
                <a:latin typeface="Consolas"/>
              </a:rPr>
              <a:t>agent.iteration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49039"/>
            <a:ext cx="45870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AAB4C0"/>
                </a:solidFill>
                <a:latin typeface="Inter"/>
              </a:rPr>
              <a:t>per loop iteration  (≤ 20)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06240"/>
            <a:ext cx="45870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46D39A"/>
                </a:solidFill>
                <a:latin typeface="Consolas"/>
              </a:rPr>
              <a:t>llm.chat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80559"/>
            <a:ext cx="45870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AAB4C0"/>
                </a:solidFill>
                <a:latin typeface="Inter"/>
              </a:rPr>
              <a:t>per LLM call  — model, tokens, latency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937759"/>
            <a:ext cx="45870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46D39A"/>
                </a:solidFill>
                <a:latin typeface="Consolas"/>
              </a:rPr>
              <a:t>tool.invocation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212079"/>
            <a:ext cx="45870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AAB4C0"/>
                </a:solidFill>
                <a:latin typeface="Inter"/>
              </a:rPr>
              <a:t>name, args preview, permission outcome, exec latency, result chars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24447" y="1783080"/>
            <a:ext cx="5318607" cy="4023360"/>
          </a:xfrm>
          <a:prstGeom prst="rect">
            <a:avLst/>
          </a:prstGeom>
          <a:solidFill>
            <a:srgbClr val="10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24447" y="1783080"/>
            <a:ext cx="5318607" cy="54864"/>
          </a:xfrm>
          <a:prstGeom prst="rect">
            <a:avLst/>
          </a:prstGeom>
          <a:solidFill>
            <a:srgbClr val="46D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90207" y="2057400"/>
            <a:ext cx="45870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5F7FA"/>
                </a:solidFill>
                <a:latin typeface="Inter"/>
              </a:rPr>
              <a:t>Privacy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90207" y="2788920"/>
            <a:ext cx="4587087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AAB4C0"/>
                </a:solidFill>
                <a:latin typeface="Inter"/>
              </a:rPr>
              <a:t>• No raw prompts in spans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400" b="0" i="0">
                <a:solidFill>
                  <a:srgbClr val="AAB4C0"/>
                </a:solidFill>
                <a:latin typeface="Inter"/>
              </a:rPr>
              <a:t>• No file contents in attributes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400" b="0" i="0">
                <a:solidFill>
                  <a:srgbClr val="AAB4C0"/>
                </a:solidFill>
                <a:latin typeface="Inter"/>
              </a:rPr>
              <a:t>• tool.args.preview truncated to 200 chars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400" b="0" i="0">
                <a:solidFill>
                  <a:srgbClr val="AAB4C0"/>
                </a:solidFill>
                <a:latin typeface="Inter"/>
              </a:rPr>
              <a:t>• Opt-in via LLMAI_OTEL_ENABLED=true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758293"/>
                </a:solidFill>
                <a:latin typeface="Consolas"/>
              </a:rPr>
              <a:t>5 / 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58293"/>
                </a:solidFill>
                <a:latin typeface="Consolas"/>
              </a:rPr>
              <a:t>github.com/sechan9999/LLMai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46D39A"/>
                </a:solidFill>
                <a:latin typeface="Inter"/>
              </a:rPr>
              <a:t>Layer 2 — Cross-session memory via Atlas Vector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AA9FF"/>
                </a:solidFill>
                <a:latin typeface="Consolas"/>
              </a:rPr>
              <a:t>MONGODB ATLAS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11094415" cy="777240"/>
          </a:xfrm>
          <a:prstGeom prst="rect">
            <a:avLst/>
          </a:prstGeom>
          <a:solidFill>
            <a:srgbClr val="10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73152" cy="777240"/>
          </a:xfrm>
          <a:prstGeom prst="rect">
            <a:avLst/>
          </a:prstGeom>
          <a:solidFill>
            <a:srgbClr val="46D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47672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46D39A"/>
                </a:solidFill>
                <a:latin typeface="Consolas"/>
              </a:rPr>
              <a:t>sessions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984248"/>
            <a:ext cx="78025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AAB4C0"/>
                </a:solidFill>
                <a:latin typeface="Inter"/>
              </a:rPr>
              <a:t>Raw transcripts per turn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24912"/>
            <a:ext cx="11094415" cy="777240"/>
          </a:xfrm>
          <a:prstGeom prst="rect">
            <a:avLst/>
          </a:prstGeom>
          <a:solidFill>
            <a:srgbClr val="10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724912"/>
            <a:ext cx="73152" cy="777240"/>
          </a:xfrm>
          <a:prstGeom prst="rect">
            <a:avLst/>
          </a:prstGeom>
          <a:solidFill>
            <a:srgbClr val="46D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889504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46D39A"/>
                </a:solidFill>
                <a:latin typeface="Consolas"/>
              </a:rPr>
              <a:t>summaries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926080"/>
            <a:ext cx="78025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AAB4C0"/>
                </a:solidFill>
                <a:latin typeface="Inter"/>
              </a:rPr>
              <a:t>LLM-summarized, vector-embedded  (cosine, 768d)  for cross-session recall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666744"/>
            <a:ext cx="11094415" cy="777240"/>
          </a:xfrm>
          <a:prstGeom prst="rect">
            <a:avLst/>
          </a:prstGeom>
          <a:solidFill>
            <a:srgbClr val="10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666744"/>
            <a:ext cx="73152" cy="777240"/>
          </a:xfrm>
          <a:prstGeom prst="rect">
            <a:avLst/>
          </a:prstGeom>
          <a:solidFill>
            <a:srgbClr val="46D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831335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46D39A"/>
                </a:solidFill>
                <a:latin typeface="Consolas"/>
              </a:rPr>
              <a:t>knowledge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867911"/>
            <a:ext cx="78025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AAB4C0"/>
                </a:solidFill>
                <a:latin typeface="Inter"/>
              </a:rPr>
              <a:t>Extracted facts  (3–5 per session), vector-embedded, semantically searchable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61772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AAB4C0"/>
                </a:solidFill>
                <a:latin typeface="Inter"/>
              </a:rPr>
              <a:t>Per-workspace scoping via sha256(absolute_path)[:16] — survives directory renames.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120640"/>
            <a:ext cx="11094415" cy="1005840"/>
          </a:xfrm>
          <a:prstGeom prst="rect">
            <a:avLst/>
          </a:prstGeom>
          <a:solidFill>
            <a:srgbClr val="0A0D11"/>
          </a:solidFill>
          <a:ln w="9525">
            <a:solidFill>
              <a:srgbClr val="263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5212080"/>
            <a:ext cx="1054577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46D39A"/>
                </a:solidFill>
                <a:latin typeface="Consolas"/>
              </a:rPr>
              <a:t>recall_memory(query="rate limiting bug in /api/chat",
              scope="both", limit=5)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758293"/>
                </a:solidFill>
                <a:latin typeface="Consolas"/>
              </a:rPr>
              <a:t>6 / 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58293"/>
                </a:solidFill>
                <a:latin typeface="Consolas"/>
              </a:rPr>
              <a:t>github.com/sechan9999/LLMai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46D39A"/>
                </a:solidFill>
                <a:latin typeface="Inter"/>
              </a:rPr>
              <a:t>Layer 3 — Hybrid search over org knowledge via Elasticsearch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AA9FF"/>
                </a:solidFill>
                <a:latin typeface="Consolas"/>
              </a:rPr>
              <a:t>ELASTIC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5318607" cy="4023360"/>
          </a:xfrm>
          <a:prstGeom prst="rect">
            <a:avLst/>
          </a:prstGeom>
          <a:solidFill>
            <a:srgbClr val="10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5318607" cy="54864"/>
          </a:xfrm>
          <a:prstGeom prst="rect">
            <a:avLst/>
          </a:prstGeom>
          <a:solidFill>
            <a:srgbClr val="46D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5870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5F7FA"/>
                </a:solidFill>
                <a:latin typeface="Inter"/>
              </a:rPr>
              <a:t>Two tools exposed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458708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46D39A"/>
                </a:solidFill>
                <a:latin typeface="Consolas"/>
              </a:rPr>
              <a:t>search_knowledge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4587087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AAB4C0"/>
                </a:solidFill>
                <a:latin typeface="Inter"/>
              </a:rPr>
              <a:t>Hybrid BM25 + kNN, RRF on Atlas / Cloud, kNN-only fallback on basic license. Auto-approved.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43400"/>
            <a:ext cx="458708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46D39A"/>
                </a:solidFill>
                <a:latin typeface="Consolas"/>
              </a:rPr>
              <a:t>query_logs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709160"/>
            <a:ext cx="4587087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AAB4C0"/>
                </a:solidFill>
                <a:latin typeface="Inter"/>
              </a:rPr>
              <a:t>Raw ES|QL over pipeline failures + the agent's own self-logs. Permission-gated.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24447" y="1783080"/>
            <a:ext cx="5318607" cy="4023360"/>
          </a:xfrm>
          <a:prstGeom prst="rect">
            <a:avLst/>
          </a:prstGeom>
          <a:solidFill>
            <a:srgbClr val="10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24447" y="1783080"/>
            <a:ext cx="5318607" cy="54864"/>
          </a:xfrm>
          <a:prstGeom prst="rect">
            <a:avLst/>
          </a:prstGeom>
          <a:solidFill>
            <a:srgbClr val="46D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90207" y="2057400"/>
            <a:ext cx="45870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5F7FA"/>
                </a:solidFill>
                <a:latin typeface="Inter"/>
              </a:rPr>
              <a:t>Why this matters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90207" y="2788920"/>
            <a:ext cx="4587087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AAB4C0"/>
                </a:solidFill>
                <a:latin typeface="Inter"/>
              </a:rPr>
              <a:t>• Agent calls search_knowledge BEFORE writing code that touches an error path</a:t>
            </a:r>
          </a:p>
          <a:p>
            <a:pPr algn="l">
              <a:lnSpc>
                <a:spcPct val="145000"/>
              </a:lnSpc>
              <a:spcBef>
                <a:spcPts val="600"/>
              </a:spcBef>
            </a:pPr>
            <a:r>
              <a:rPr sz="1400" b="0" i="0">
                <a:solidFill>
                  <a:srgbClr val="AAB4C0"/>
                </a:solidFill>
                <a:latin typeface="Inter"/>
              </a:rPr>
              <a:t>• Surfaces the GitLab issue from 6 months ago instead of inventing a fix</a:t>
            </a:r>
          </a:p>
          <a:p>
            <a:pPr algn="l">
              <a:lnSpc>
                <a:spcPct val="145000"/>
              </a:lnSpc>
              <a:spcBef>
                <a:spcPts val="600"/>
              </a:spcBef>
            </a:pPr>
            <a:r>
              <a:rPr sz="1400" b="0" i="0">
                <a:solidFill>
                  <a:srgbClr val="AAB4C0"/>
                </a:solidFill>
                <a:latin typeface="Inter"/>
              </a:rPr>
              <a:t>• Via Bindplane tee, agent can query its own behavior with ES|QL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758293"/>
                </a:solidFill>
                <a:latin typeface="Consolas"/>
              </a:rPr>
              <a:t>7 / 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58293"/>
                </a:solidFill>
                <a:latin typeface="Consolas"/>
              </a:rPr>
              <a:t>github.com/sechan9999/LLMai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46D39A"/>
                </a:solidFill>
                <a:latin typeface="Inter"/>
              </a:rPr>
              <a:t>Verified end-to-end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AAB4C0"/>
                </a:solidFill>
                <a:latin typeface="Inter"/>
              </a:rPr>
              <a:t>What works today, tested locally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11094415" cy="713232"/>
          </a:xfrm>
          <a:prstGeom prst="rect">
            <a:avLst/>
          </a:prstGeom>
          <a:solidFill>
            <a:srgbClr val="10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73152" cy="713232"/>
          </a:xfrm>
          <a:prstGeom prst="rect">
            <a:avLst/>
          </a:prstGeom>
          <a:solidFill>
            <a:srgbClr val="46D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92807"/>
            <a:ext cx="5669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46D39A"/>
                </a:solidFill>
                <a:latin typeface="Consolas"/>
              </a:rPr>
              <a:t>search_knowledge("chat endpoint throttling")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59" y="1892807"/>
            <a:ext cx="505937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F5F7FA"/>
                </a:solidFill>
                <a:latin typeface="Inter"/>
              </a:rPr>
              <a:t>score 0.84 on rate-limit issue  (pure semantic match, no keyword overlap)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587752"/>
            <a:ext cx="11094415" cy="713232"/>
          </a:xfrm>
          <a:prstGeom prst="rect">
            <a:avLst/>
          </a:prstGeom>
          <a:solidFill>
            <a:srgbClr val="10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587752"/>
            <a:ext cx="73152" cy="713232"/>
          </a:xfrm>
          <a:prstGeom prst="rect">
            <a:avLst/>
          </a:prstGeom>
          <a:solidFill>
            <a:srgbClr val="46D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697480"/>
            <a:ext cx="5669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46D39A"/>
                </a:solidFill>
                <a:latin typeface="Consolas"/>
              </a:rPr>
              <a:t>search_knowledge("cookie token rotation")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59" y="2697480"/>
            <a:ext cx="505937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F5F7FA"/>
                </a:solidFill>
                <a:latin typeface="Inter"/>
              </a:rPr>
              <a:t>score 0.87 on auth design doc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392424"/>
            <a:ext cx="11094415" cy="713232"/>
          </a:xfrm>
          <a:prstGeom prst="rect">
            <a:avLst/>
          </a:prstGeom>
          <a:solidFill>
            <a:srgbClr val="10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392424"/>
            <a:ext cx="73152" cy="713232"/>
          </a:xfrm>
          <a:prstGeom prst="rect">
            <a:avLst/>
          </a:prstGeom>
          <a:solidFill>
            <a:srgbClr val="46D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502152"/>
            <a:ext cx="5669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46D39A"/>
                </a:solidFill>
                <a:latin typeface="Consolas"/>
              </a:rPr>
              <a:t>query_logs(ES|QL aggregation)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59" y="3502152"/>
            <a:ext cx="505937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F5F7FA"/>
                </a:solidFill>
                <a:latin typeface="Inter"/>
              </a:rPr>
              <a:t>correct row counts grouped by error_signature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197096"/>
            <a:ext cx="11094415" cy="713232"/>
          </a:xfrm>
          <a:prstGeom prst="rect">
            <a:avLst/>
          </a:prstGeom>
          <a:solidFill>
            <a:srgbClr val="10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197096"/>
            <a:ext cx="73152" cy="713232"/>
          </a:xfrm>
          <a:prstGeom prst="rect">
            <a:avLst/>
          </a:prstGeom>
          <a:solidFill>
            <a:srgbClr val="46D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306824"/>
            <a:ext cx="5669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46D39A"/>
                </a:solidFill>
                <a:latin typeface="Consolas"/>
              </a:rPr>
              <a:t>OTel console exporter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59" y="4306824"/>
            <a:ext cx="505937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F5F7FA"/>
                </a:solidFill>
                <a:latin typeface="Inter"/>
              </a:rPr>
              <a:t>agent.turn → agent.iteration → llm.chat + tool.invocation spans emitted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001768"/>
            <a:ext cx="11094415" cy="713232"/>
          </a:xfrm>
          <a:prstGeom prst="rect">
            <a:avLst/>
          </a:prstGeom>
          <a:solidFill>
            <a:srgbClr val="10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5001768"/>
            <a:ext cx="73152" cy="713232"/>
          </a:xfrm>
          <a:prstGeom prst="rect">
            <a:avLst/>
          </a:prstGeom>
          <a:solidFill>
            <a:srgbClr val="46D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111496"/>
            <a:ext cx="5669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46D39A"/>
                </a:solidFill>
                <a:latin typeface="Consolas"/>
              </a:rPr>
              <a:t>103 unit tests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59" y="5111496"/>
            <a:ext cx="505937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F5F7FA"/>
                </a:solidFill>
                <a:latin typeface="Inter"/>
              </a:rPr>
              <a:t>all pass — graceful degradation verified for every failure mode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758293"/>
                </a:solidFill>
                <a:latin typeface="Consolas"/>
              </a:rPr>
              <a:t>8 / 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58293"/>
                </a:solidFill>
                <a:latin typeface="Consolas"/>
              </a:rPr>
              <a:t>github.com/sechan9999/LLMai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46D39A"/>
                </a:solidFill>
                <a:latin typeface="Inter"/>
              </a:rPr>
              <a:t>Tech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5318607" cy="4206240"/>
          </a:xfrm>
          <a:prstGeom prst="rect">
            <a:avLst/>
          </a:prstGeom>
          <a:solidFill>
            <a:srgbClr val="10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5318607" cy="54864"/>
          </a:xfrm>
          <a:prstGeom prst="rect">
            <a:avLst/>
          </a:prstGeom>
          <a:solidFill>
            <a:srgbClr val="46D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5870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5F7FA"/>
                </a:solidFill>
                <a:latin typeface="Inter"/>
              </a:rPr>
              <a:t>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4587087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AAB4C0"/>
                </a:solidFill>
                <a:latin typeface="Inter"/>
              </a:rPr>
              <a:t>• Python · FastAPI · WebSocket streaming</a:t>
            </a:r>
          </a:p>
          <a:p>
            <a:pPr algn="l">
              <a:lnSpc>
                <a:spcPct val="155000"/>
              </a:lnSpc>
              <a:spcBef>
                <a:spcPts val="600"/>
              </a:spcBef>
            </a:pPr>
            <a:r>
              <a:rPr sz="1400" b="0" i="0">
                <a:solidFill>
                  <a:srgbClr val="AAB4C0"/>
                </a:solidFill>
                <a:latin typeface="Inter"/>
              </a:rPr>
              <a:t>• Ollama  —  qwen2.5-coder, nomic-embed-text</a:t>
            </a:r>
          </a:p>
          <a:p>
            <a:pPr algn="l">
              <a:lnSpc>
                <a:spcPct val="155000"/>
              </a:lnSpc>
              <a:spcBef>
                <a:spcPts val="600"/>
              </a:spcBef>
            </a:pPr>
            <a:r>
              <a:rPr sz="1400" b="0" i="0">
                <a:solidFill>
                  <a:srgbClr val="AAB4C0"/>
                </a:solidFill>
                <a:latin typeface="Inter"/>
              </a:rPr>
              <a:t>• Agent loop:  observe → judge → act   (≤ 20 iterations)</a:t>
            </a:r>
          </a:p>
          <a:p>
            <a:pPr algn="l">
              <a:lnSpc>
                <a:spcPct val="155000"/>
              </a:lnSpc>
              <a:spcBef>
                <a:spcPts val="600"/>
              </a:spcBef>
            </a:pPr>
            <a:r>
              <a:rPr sz="1400" b="0" i="0">
                <a:solidFill>
                  <a:srgbClr val="AAB4C0"/>
                </a:solidFill>
                <a:latin typeface="Inter"/>
              </a:rPr>
              <a:t>• Permission gates:  allow / ask / deny  per tool</a:t>
            </a:r>
          </a:p>
        </p:txBody>
      </p:sp>
      <p:sp>
        <p:nvSpPr>
          <p:cNvPr id="8" name="Rectangle 7"/>
          <p:cNvSpPr/>
          <p:nvPr/>
        </p:nvSpPr>
        <p:spPr>
          <a:xfrm>
            <a:off x="6324447" y="1554480"/>
            <a:ext cx="5318607" cy="4206240"/>
          </a:xfrm>
          <a:prstGeom prst="rect">
            <a:avLst/>
          </a:prstGeom>
          <a:solidFill>
            <a:srgbClr val="10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24447" y="1554480"/>
            <a:ext cx="5318607" cy="54864"/>
          </a:xfrm>
          <a:prstGeom prst="rect">
            <a:avLst/>
          </a:prstGeom>
          <a:solidFill>
            <a:srgbClr val="6AA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90207" y="1828800"/>
            <a:ext cx="45870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5F7FA"/>
                </a:solidFill>
                <a:latin typeface="Inter"/>
              </a:rPr>
              <a:t>Partner backends  (all opt-in)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90207" y="2560320"/>
            <a:ext cx="4587087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AAB4C0"/>
                </a:solidFill>
                <a:latin typeface="Inter"/>
              </a:rPr>
              <a:t>• Dynatrace  via OpenTelemetry + Bindplane OTel collector</a:t>
            </a:r>
          </a:p>
          <a:p>
            <a:pPr algn="l">
              <a:lnSpc>
                <a:spcPct val="155000"/>
              </a:lnSpc>
              <a:spcBef>
                <a:spcPts val="600"/>
              </a:spcBef>
            </a:pPr>
            <a:r>
              <a:rPr sz="1400" b="0" i="0">
                <a:solidFill>
                  <a:srgbClr val="AAB4C0"/>
                </a:solidFill>
                <a:latin typeface="Inter"/>
              </a:rPr>
              <a:t>• MongoDB Atlas + Vector Search   (768d cosine)</a:t>
            </a:r>
          </a:p>
          <a:p>
            <a:pPr algn="l">
              <a:lnSpc>
                <a:spcPct val="155000"/>
              </a:lnSpc>
              <a:spcBef>
                <a:spcPts val="600"/>
              </a:spcBef>
            </a:pPr>
            <a:r>
              <a:rPr sz="1400" b="0" i="0">
                <a:solidFill>
                  <a:srgbClr val="AAB4C0"/>
                </a:solidFill>
                <a:latin typeface="Inter"/>
              </a:rPr>
              <a:t>• Elasticsearch 8.x  —  RRF, kNN, ES|QL</a:t>
            </a:r>
          </a:p>
          <a:p>
            <a:pPr algn="l">
              <a:lnSpc>
                <a:spcPct val="155000"/>
              </a:lnSpc>
              <a:spcBef>
                <a:spcPts val="600"/>
              </a:spcBef>
            </a:pPr>
            <a:r>
              <a:rPr sz="1400" b="0" i="0">
                <a:solidFill>
                  <a:srgbClr val="AAB4C0"/>
                </a:solidFill>
                <a:latin typeface="Inter"/>
              </a:rPr>
              <a:t>• MCP-compatible tool shapes throughout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758293"/>
                </a:solidFill>
                <a:latin typeface="Consolas"/>
              </a:rPr>
              <a:t>9 /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58293"/>
                </a:solidFill>
                <a:latin typeface="Consolas"/>
              </a:rPr>
              <a:t>github.com/sechan9999/LLMai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46D39A"/>
                </a:solidFill>
                <a:latin typeface="Inter"/>
              </a:rPr>
              <a:t>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37360"/>
            <a:ext cx="457200" cy="457200"/>
          </a:xfrm>
          <a:prstGeom prst="rect">
            <a:avLst/>
          </a:prstGeom>
          <a:solidFill>
            <a:srgbClr val="46D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07090C"/>
                </a:solidFill>
                <a:latin typeface="Inter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783080"/>
            <a:ext cx="1031717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F5F7FA"/>
                </a:solidFill>
                <a:latin typeface="Inter"/>
              </a:rPr>
              <a:t>Migrate recall_memory + search_knowledge to real MCP transport  (one-file change)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578608"/>
            <a:ext cx="457200" cy="457200"/>
          </a:xfrm>
          <a:prstGeom prst="rect">
            <a:avLst/>
          </a:prstGeom>
          <a:solidFill>
            <a:srgbClr val="46D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57860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07090C"/>
                </a:solidFill>
                <a:latin typeface="Inter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624327"/>
            <a:ext cx="1031717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F5F7FA"/>
                </a:solidFill>
                <a:latin typeface="Inter"/>
              </a:rPr>
              <a:t>Continuous ingest:  Elastic Agent / Logstash for GitLab + log streams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419856"/>
            <a:ext cx="457200" cy="457200"/>
          </a:xfrm>
          <a:prstGeom prst="rect">
            <a:avLst/>
          </a:prstGeom>
          <a:solidFill>
            <a:srgbClr val="46D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41985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07090C"/>
                </a:solidFill>
                <a:latin typeface="Inter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465576"/>
            <a:ext cx="1031717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F5F7FA"/>
                </a:solidFill>
                <a:latin typeface="Inter"/>
              </a:rPr>
              <a:t>Cross-workspace recall mode with explicit user opt-in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261104"/>
            <a:ext cx="457200" cy="457200"/>
          </a:xfrm>
          <a:prstGeom prst="rect">
            <a:avLst/>
          </a:prstGeom>
          <a:solidFill>
            <a:srgbClr val="46D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26110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07090C"/>
                </a:solidFill>
                <a:latin typeface="Inter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306824"/>
            <a:ext cx="1031717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F5F7FA"/>
                </a:solidFill>
                <a:latin typeface="Inter"/>
              </a:rPr>
              <a:t>Auto-route compute:  cheap models for tool selection, larger models for code generation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102352"/>
            <a:ext cx="457200" cy="457200"/>
          </a:xfrm>
          <a:prstGeom prst="rect">
            <a:avLst/>
          </a:prstGeom>
          <a:solidFill>
            <a:srgbClr val="46D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510235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07090C"/>
                </a:solidFill>
                <a:latin typeface="Inter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5148072"/>
            <a:ext cx="1031717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F5F7FA"/>
                </a:solidFill>
                <a:latin typeface="Inter"/>
              </a:rPr>
              <a:t>Add Claude / GPT cloud paths alongside the existing Gemini / Groq options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758293"/>
                </a:solidFill>
                <a:latin typeface="Consolas"/>
              </a:rPr>
              <a:t>10 / 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58293"/>
                </a:solidFill>
                <a:latin typeface="Consolas"/>
              </a:rPr>
              <a:t>github.com/sechan9999/LLMai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03120"/>
            <a:ext cx="11094415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1" i="0">
                <a:solidFill>
                  <a:srgbClr val="F5F7FA"/>
                </a:solidFill>
                <a:latin typeface="Inter"/>
              </a:rPr>
              <a:t>Three layers · One agent · Zero API keys required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364327" y="3611880"/>
            <a:ext cx="1463040" cy="36576"/>
          </a:xfrm>
          <a:prstGeom prst="rect">
            <a:avLst/>
          </a:prstGeom>
          <a:solidFill>
            <a:srgbClr val="46D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93192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 i="0">
                <a:solidFill>
                  <a:srgbClr val="46D39A"/>
                </a:solidFill>
                <a:latin typeface="Consolas"/>
              </a:rPr>
              <a:t>github.com/sechan9999/LLMai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48056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0">
                <a:solidFill>
                  <a:srgbClr val="6AA9FF"/>
                </a:solidFill>
                <a:latin typeface="Consolas"/>
              </a:rPr>
              <a:t>Live demo:  ll-mai.vercel.app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4406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AAB4C0"/>
                </a:solidFill>
                <a:latin typeface="Consolas"/>
              </a:rPr>
              <a:t>make demo-up &amp;&amp; llmai-server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